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 dirty="0">
                <a:solidFill>
                  <a:srgbClr val="000000"/>
                </a:solidFill>
                <a:latin typeface="Arial"/>
              </a:rPr>
              <a:t>Sentiment Distribution by Data Source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Amazon India</c:v>
                </c:pt>
                <c:pt idx="1">
                  <c:v>CrowdFlower Tweets</c:v>
                </c:pt>
                <c:pt idx="2">
                  <c:v>Consumer Reviews</c:v>
                </c:pt>
                <c:pt idx="3">
                  <c:v>Mobile Tweets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75.8</c:v>
                </c:pt>
                <c:pt idx="1">
                  <c:v>33.299999999999997</c:v>
                </c:pt>
                <c:pt idx="2">
                  <c:v>58.4</c:v>
                </c:pt>
                <c:pt idx="3">
                  <c:v>14.8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5F-4B83-BE05-9B781B6C41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Amazon India</c:v>
                </c:pt>
                <c:pt idx="1">
                  <c:v>CrowdFlower Tweets</c:v>
                </c:pt>
                <c:pt idx="2">
                  <c:v>Consumer Reviews</c:v>
                </c:pt>
                <c:pt idx="3">
                  <c:v>Mobile Tweets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21.3</c:v>
                </c:pt>
                <c:pt idx="1">
                  <c:v>60.3</c:v>
                </c:pt>
                <c:pt idx="2">
                  <c:v>25.3</c:v>
                </c:pt>
                <c:pt idx="3">
                  <c:v>82.2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5F-4B83-BE05-9B781B6C41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Amazon India</c:v>
                </c:pt>
                <c:pt idx="1">
                  <c:v>CrowdFlower Tweets</c:v>
                </c:pt>
                <c:pt idx="2">
                  <c:v>Consumer Reviews</c:v>
                </c:pt>
                <c:pt idx="3">
                  <c:v>Mobile Tweets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2.9</c:v>
                </c:pt>
                <c:pt idx="1">
                  <c:v>6.4</c:v>
                </c:pt>
                <c:pt idx="2">
                  <c:v>16.3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5F-4B83-BE05-9B781B6C41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 dirty="0">
                <a:solidFill>
                  <a:srgbClr val="000000"/>
                </a:solidFill>
                <a:latin typeface="Arial"/>
              </a:rPr>
              <a:t>Positive Sentiment Rate by Product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Sentiment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Mobile Accessories</c:v>
                </c:pt>
                <c:pt idx="1">
                  <c:v>Electronics</c:v>
                </c:pt>
                <c:pt idx="2">
                  <c:v>Computers &amp; Acc.</c:v>
                </c:pt>
                <c:pt idx="3">
                  <c:v>Wearables</c:v>
                </c:pt>
                <c:pt idx="4">
                  <c:v>Laptops</c:v>
                </c:pt>
                <c:pt idx="5">
                  <c:v>Smartphones</c:v>
                </c:pt>
                <c:pt idx="6">
                  <c:v>Smart Home</c:v>
                </c:pt>
                <c:pt idx="7">
                  <c:v>Headphones/Audio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</c:v>
                </c:pt>
                <c:pt idx="1">
                  <c:v>83</c:v>
                </c:pt>
                <c:pt idx="2">
                  <c:v>75</c:v>
                </c:pt>
                <c:pt idx="3">
                  <c:v>62</c:v>
                </c:pt>
                <c:pt idx="4">
                  <c:v>61</c:v>
                </c:pt>
                <c:pt idx="5">
                  <c:v>57</c:v>
                </c:pt>
                <c:pt idx="6">
                  <c:v>55</c:v>
                </c:pt>
                <c:pt idx="7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5-46B8-A37B-16B31E2382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 dirty="0">
                <a:solidFill>
                  <a:srgbClr val="000000"/>
                </a:solidFill>
                <a:latin typeface="Arial"/>
              </a:rPr>
              <a:t>Average Compound Sentiment Score by Product Aspect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Compound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1"/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7E-4691-B747-C6858BA3CF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Camera / Display</c:v>
                </c:pt>
                <c:pt idx="1">
                  <c:v>Build Quality</c:v>
                </c:pt>
                <c:pt idx="2">
                  <c:v>Performance / Speed</c:v>
                </c:pt>
                <c:pt idx="3">
                  <c:v>Battery Life</c:v>
                </c:pt>
                <c:pt idx="4">
                  <c:v>Value for Money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</c:v>
                </c:pt>
                <c:pt idx="1">
                  <c:v>0.44</c:v>
                </c:pt>
                <c:pt idx="2">
                  <c:v>0.48</c:v>
                </c:pt>
                <c:pt idx="3">
                  <c:v>0.31</c:v>
                </c:pt>
                <c:pt idx="4">
                  <c:v>0.18</c:v>
                </c:pt>
                <c:pt idx="5">
                  <c:v>-0.12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2-F27E-4691-B747-C6858BA3CF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 dirty="0">
                <a:solidFill>
                  <a:srgbClr val="000000"/>
                </a:solidFill>
                <a:latin typeface="Arial"/>
              </a:rPr>
              <a:t>Model Performance on Real Data Test Set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Random Forest</c:v>
                </c:pt>
                <c:pt idx="2">
                  <c:v>Logistic Regression ✓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71.599999999999994</c:v>
                </c:pt>
                <c:pt idx="1">
                  <c:v>66.7</c:v>
                </c:pt>
                <c:pt idx="2">
                  <c:v>73.5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2A-4D31-8B28-A6DBE47897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Random Forest</c:v>
                </c:pt>
                <c:pt idx="2">
                  <c:v>Logistic Regression ✓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63.1</c:v>
                </c:pt>
                <c:pt idx="1">
                  <c:v>52.4</c:v>
                </c:pt>
                <c:pt idx="2">
                  <c:v>63.9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2A-4D31-8B28-A6DBE4789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Random Forest</c:v>
                </c:pt>
                <c:pt idx="2">
                  <c:v>Logistic Regression ✓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72</c:v>
                </c:pt>
                <c:pt idx="1">
                  <c:v>78.400000000000006</c:v>
                </c:pt>
                <c:pt idx="2">
                  <c:v>82.9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2A-4D31-8B28-A6DBE47897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 dirty="0">
                <a:solidFill>
                  <a:srgbClr val="000000"/>
                </a:solidFill>
                <a:latin typeface="Arial"/>
              </a:rPr>
              <a:t>PSR vs BSR Improvement Score — 12-Week Window (r = −0.67, p&lt;0.001)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PSR – Positive Sentiment Ratio (%)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</c:v>
                </c:pt>
                <c:pt idx="1">
                  <c:v>72</c:v>
                </c:pt>
                <c:pt idx="2">
                  <c:v>78</c:v>
                </c:pt>
                <c:pt idx="3">
                  <c:v>65</c:v>
                </c:pt>
                <c:pt idx="4">
                  <c:v>60</c:v>
                </c:pt>
                <c:pt idx="5">
                  <c:v>74</c:v>
                </c:pt>
                <c:pt idx="6">
                  <c:v>80</c:v>
                </c:pt>
                <c:pt idx="7">
                  <c:v>70</c:v>
                </c:pt>
                <c:pt idx="8">
                  <c:v>64</c:v>
                </c:pt>
                <c:pt idx="9">
                  <c:v>76</c:v>
                </c:pt>
                <c:pt idx="10">
                  <c:v>82</c:v>
                </c:pt>
                <c:pt idx="11">
                  <c:v>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694-4B43-A151-D9FEE67B33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BSR Improvement Score (2-wk lag)</c:v>
                </c:pt>
              </c:strCache>
            </c:strRef>
          </c:tx>
          <c:spPr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73</c:v>
                </c:pt>
                <c:pt idx="4">
                  <c:v>62</c:v>
                </c:pt>
                <c:pt idx="5">
                  <c:v>62</c:v>
                </c:pt>
                <c:pt idx="6">
                  <c:v>73</c:v>
                </c:pt>
                <c:pt idx="7">
                  <c:v>78</c:v>
                </c:pt>
                <c:pt idx="8">
                  <c:v>72</c:v>
                </c:pt>
                <c:pt idx="9">
                  <c:v>66</c:v>
                </c:pt>
                <c:pt idx="10">
                  <c:v>74</c:v>
                </c:pt>
                <c:pt idx="11">
                  <c:v>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694-4B43-A151-D9FEE67B3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429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162560"/>
          </a:solidFill>
          <a:ln w="12700">
            <a:solidFill>
              <a:srgbClr val="162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AI-Based Customer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020"/>
                </a:solidFill>
              </a:rPr>
              <a:t>Sentiment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</a:rPr>
              <a:t>for Predicting Product Success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7772400" cy="0"/>
          </a:xfrm>
          <a:prstGeom prst="line">
            <a:avLst/>
          </a:prstGeom>
          <a:noFill/>
          <a:ln w="15240">
            <a:solidFill>
              <a:srgbClr val="2A4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AAD8"/>
                </a:solidFill>
              </a:rPr>
              <a:t>Using Real-World Social Media &amp; E-Commerce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Abhijeet Srivastava  |  Roll No. 246 PBA 021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8"/>
                </a:solidFill>
              </a:rPr>
              <a:t>MBA – Business Analytics &amp; Data Science  |  Batch 2024–2026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D8"/>
                </a:solidFill>
              </a:rPr>
              <a:t>Supervisor: Mr. Alok Sharma  |  School of Management, GBU  |  May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A6FA5"/>
                </a:solidFill>
              </a:rPr>
              <a:t>GAUTAM BUDDHA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What we will cover in this presentation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Background &amp; Problem Statement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6642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Why traditional metrics fail and what gap this study fills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Data Sources &amp; Methodology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29260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4 Kaggle datasets · 36,401 records · CRISP-DM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822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38221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EDA &amp; NLP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41879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Sentiment distributions, category breakdown, VADER 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188720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ML Modelling &amp; Results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16642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Logistic Regression, Random Forest, Naive Bayes comparison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50592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0328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Business Insights &amp; Recommendations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29260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PSR as lead indicator + 5 strategic recommendations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12464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3822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020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38221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F6E"/>
                </a:solidFill>
              </a:rPr>
              <a:t>Conclusion &amp; Future Scope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94960" y="41879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Key takeaways and the path forward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384048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</a:rPr>
              <a:t>Core Research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Can AI-based sentiment analysis of real-world Kaggle data — Amazon India reviews and annotated tweets — reliably classify customer sentiment towards consumer electronics, and translate those insights into actionable business intelligence?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657600" cy="0"/>
          </a:xfrm>
          <a:prstGeom prst="line">
            <a:avLst/>
          </a:prstGeom>
          <a:noFill/>
          <a:ln w="10160">
            <a:solidFill>
              <a:srgbClr val="2A4A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</a:rPr>
              <a:t>The Information Latency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Traditional metrics — quarterly reports, surveys — reveal what already happened, not what's next. By the time an issue is flagged, the correction window has closed.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54864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698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Slow Feedback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38074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Sales data lags sentiment by weeks or 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194560"/>
            <a:ext cx="54864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042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Massive Unstructured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1518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Millions of reviews &amp; tweets are impossible to analyse manually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4290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429000"/>
            <a:ext cx="54864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38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Missed Opportunities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84962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Positive viral moments cause supply chain strain if unpredicted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Objectives &amp;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411480" cy="4114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Characterise Sentiment 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9903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Analyse distributions across product categories, brands &amp; data 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Develop &amp; Evaluate ML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39903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Train LR, RF, NB classifiers; evaluate using accuracy, F1, ROC-AUC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Establish Sentiment as Lead Indicator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163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Link PSR to product performance proxies &amp; timing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690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Derive Business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81635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Translate findings into actionable recommendations + deployment plan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8221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Hypotheses (Alternative, All Supported)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114800"/>
            <a:ext cx="2788920" cy="68580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0"/>
            </a:solidFill>
          </a:ln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H1  Category positive rates differ significantly (range &gt; 10 pp)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9272" y="4114800"/>
            <a:ext cx="2788920" cy="68580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0"/>
            </a:solidFill>
          </a:ln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H2  LR accuracy &gt; majority-class baseline of 56.8%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27064" y="4114800"/>
            <a:ext cx="2788920" cy="68580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0"/>
            </a:solidFill>
          </a:ln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H3  PSR precedes BSR improvement by ~2 weeks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4 publicly available Kaggle datasets  ·  36,401 authentic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60520" cy="5029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521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Amazon India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Sales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155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A020"/>
                </a:solidFill>
              </a:rPr>
              <a:t>1,464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408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E8FF"/>
                </a:solidFill>
              </a:rPr>
              <a:t>Records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Product ratings, reviews &amp; category data from Amazon.in. Avg rating: 4.10/5. 75.8% Positive.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41605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5214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CrowdFlower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Tweet Sentiment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11155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A020"/>
                </a:solidFill>
              </a:rPr>
              <a:t>9,093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3800" y="1408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E8FF"/>
                </a:solidFill>
              </a:rPr>
              <a:t>Annotated Tweets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Apple &amp; Google product launch tweets. Crowd-annotated sentiment labels.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80944"/>
            <a:ext cx="416052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540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 Electronics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Reviews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A020"/>
                </a:solidFill>
              </a:rPr>
              <a:t>1,000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E8FF"/>
                </a:solidFill>
              </a:rPr>
              <a:t>Structured Reviews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5 categories: Smartphones, Laptops, Audio, Wearables, Smart Home. Avg 3.74/5.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980944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80944"/>
            <a:ext cx="416052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540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Mobile Phone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Tweet Reviews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017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A020"/>
                </a:solidFill>
              </a:rPr>
              <a:t>25,000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4E8FF"/>
                </a:solidFill>
              </a:rPr>
              <a:t>Mobile Tweets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Mobile product tweets over multiple months. Keyword-scored sentiment.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CRISP-DM Framework  ·  6-Stage Analytical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325880" cy="109728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Acquisition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591056"/>
            <a:ext cx="914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Download Kaggle CSVs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Validate integrity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1097280"/>
            <a:ext cx="1325880" cy="1097280"/>
          </a:xfrm>
          <a:prstGeom prst="rect">
            <a:avLst/>
          </a:prstGeom>
          <a:solidFill>
            <a:srgbClr val="1E4A8E"/>
          </a:solidFill>
          <a:ln w="12700">
            <a:solidFill>
              <a:srgbClr val="1E4A8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591056"/>
            <a:ext cx="914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5623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URL/HTML removal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Lemmatisation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Negation handling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132588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591056"/>
            <a:ext cx="914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7355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Sentiment distributions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Category breakdowns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Visualisation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097280"/>
            <a:ext cx="1325880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1591056"/>
            <a:ext cx="914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9087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TF-IDF (5,000 features)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Bigrams · SMOTE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097280"/>
            <a:ext cx="1325880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1591056"/>
            <a:ext cx="9144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0819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LR · RF · Naive Bayes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Stratified 85/15 split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1097280"/>
            <a:ext cx="132588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52360" y="1143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52360" y="13898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52360" y="2331720"/>
            <a:ext cx="13258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25512" y="2423160"/>
            <a:ext cx="1188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PSR alerts · BI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Deployment concept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Tools: Python 3.10 · Pandas · Scikit-learn · NLTK · VADER · Matplotlib · SMOTE · Google Colab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EDA: Sentiment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Across all 4 datasets  ·  36,401 total records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0584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005840"/>
            <a:ext cx="2560320" cy="107899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</a:rPr>
              <a:t>75.8%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355080" y="15819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Amazon India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Positive Rate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2267712"/>
            <a:ext cx="2560320" cy="107899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3408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</a:rPr>
              <a:t>33.3%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355080" y="284378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Tweet Positive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3529584"/>
            <a:ext cx="2560320" cy="1078992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36027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</a:rPr>
              <a:t>56.8%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55080" y="410565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ML Corpus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Neutral Rate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Category-Level Sentiment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34-point spread confirms Hypothesis H1 Alternative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0584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097280"/>
            <a:ext cx="25603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355080" y="1097280"/>
            <a:ext cx="54864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188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Top: Mobile Accessories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49961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86% Positive — market's strongest satisfaction driver. Marketing goldmine.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5080" y="2331720"/>
            <a:ext cx="25603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2331720"/>
            <a:ext cx="54864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423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Bottom: Headphones/Audio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7340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52% Positive — 34 pp gap from top. Needs urgent quality review.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3566160"/>
            <a:ext cx="25603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3566160"/>
            <a:ext cx="54864" cy="10789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6576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Consumer Reviews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396849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Wearables lead (62%), Smart Home lowest with 19% Negative rate.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Aspect-Level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What customers praise vs. criticise — Consumer Electronics Reviews (n=1,000)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96012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788920" cy="11887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0607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</a:rPr>
              <a:t>+0.52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17920" y="14996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Camera &amp; Display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Highest-rated feature — 74.8% positive mentions. Key marketing asset.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2377440"/>
            <a:ext cx="2788920" cy="11887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2432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020"/>
                </a:solidFill>
              </a:rPr>
              <a:t>+0.18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217920" y="28712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Value for Money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7920" y="31546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Weakest positive aspect — perception of overpricing. Messaging needed.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3749040"/>
            <a:ext cx="2788920" cy="118872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38039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</a:rPr>
              <a:t>−0.12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17920" y="42428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Customer Service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17920" y="4526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Only negative-scoring attribute — clear &amp; critical improvement gap.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9 / 15</a:t>
            </a:r>
            <a:endParaRPr lang="en-US" sz="900" dirty="0"/>
          </a:p>
        </p:txBody>
      </p:sp>
      <p:sp>
        <p:nvSpPr>
          <p:cNvPr id="99" name="CustSvcLabel"/>
          <p:cNvSpPr>
            <a:spLocks noGrp="1"/>
          </p:cNvSpPr>
          <p:nvPr/>
        </p:nvSpPr>
        <p:spPr>
          <a:xfrm>
            <a:off x="105000" y="1560000"/>
            <a:ext cx="145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en-US" sz="1100" b="0" dirty="0">
                <a:solidFill>
                  <a:srgbClr val="475569"/>
                </a:solidFill>
                <a:latin typeface="Arial"/>
              </a:rPr>
              <a:t>Customer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ML Model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Test Set: n=1,491  ·  Majority-class baseline: 56.8%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05840"/>
            <a:ext cx="2971800" cy="356616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</a:rPr>
              <a:t>Best 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Logistic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Regression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035040" y="2057400"/>
            <a:ext cx="2651760" cy="0"/>
          </a:xfrm>
          <a:prstGeom prst="line">
            <a:avLst/>
          </a:prstGeom>
          <a:noFill/>
          <a:ln w="6350">
            <a:solidFill>
              <a:srgbClr val="2A4A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2103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73.5%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Accuracy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2587752"/>
            <a:ext cx="2651760" cy="0"/>
          </a:xfrm>
          <a:prstGeom prst="line">
            <a:avLst/>
          </a:prstGeom>
          <a:noFill/>
          <a:ln w="6350">
            <a:solidFill>
              <a:srgbClr val="2A4A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6334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0.829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2679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ROC-AUC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118104"/>
            <a:ext cx="2651760" cy="0"/>
          </a:xfrm>
          <a:prstGeom prst="line">
            <a:avLst/>
          </a:prstGeom>
          <a:noFill/>
          <a:ln w="6350">
            <a:solidFill>
              <a:srgbClr val="2A4A9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3163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0.639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0" y="32095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Macro F1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3648456"/>
            <a:ext cx="2651760" cy="0"/>
          </a:xfrm>
          <a:prstGeom prst="line">
            <a:avLst/>
          </a:prstGeom>
          <a:noFill/>
          <a:ln w="6350">
            <a:solidFill>
              <a:srgbClr val="2A4A9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6941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</a:rPr>
              <a:t>94.6%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0" y="37398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Negative Precision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Significantly outperforms majority-class baseline of 56.8%  — H2 Alternative Supported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Per-Class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Logistic Regression — Real Data Test Set (n=1,491)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512064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Negative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0.946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0.318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0.476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Neutral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0.724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0.900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0.803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847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Positive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0.744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0.560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0.639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534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F6E"/>
                          </a:solidFill>
                        </a:rPr>
                        <a:t>Macro Avg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F6E"/>
                          </a:solidFill>
                        </a:rPr>
                        <a:t>0.805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F6E"/>
                          </a:solidFill>
                        </a:rPr>
                        <a:t>0.593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F6E"/>
                          </a:solidFill>
                        </a:rPr>
                        <a:t>0.639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2F6E"/>
                          </a:solidFill>
                        </a:rPr>
                        <a:t>1,491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337560"/>
            <a:ext cx="5120640" cy="146304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401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</a:rPr>
              <a:t>ROC-AUC by Class (One-vs-Rest)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730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Positive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0.963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194560" y="3730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Neutral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0.910</a:t>
            </a:r>
            <a:endParaRPr lang="en-US" sz="2200" dirty="0"/>
          </a:p>
        </p:txBody>
      </p:sp>
      <p:sp>
        <p:nvSpPr>
          <p:cNvPr id="5" name="Text 9"/>
          <p:cNvSpPr/>
          <p:nvPr/>
        </p:nvSpPr>
        <p:spPr>
          <a:xfrm>
            <a:off x="3840480" y="3730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Negative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0" y="3931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0.951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0" y="37307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Weighted Avg AUC = 0.829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15000" y="1078992"/>
            <a:ext cx="32004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1078992"/>
            <a:ext cx="54864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117043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Negative Precision 94.6%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70448" y="148132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When the model flags 'Negative' — it is almost certainly genuine. Very low false-alarm rate.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15000" y="2340864"/>
            <a:ext cx="32004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2340864"/>
            <a:ext cx="54864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2432304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Low Negative Recall 31.8%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0448" y="274320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 is conservative; class imbalance (7.4% negative) is the root cause.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3602736"/>
            <a:ext cx="32004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3602736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3694176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F6E"/>
                </a:solidFill>
              </a:rPr>
              <a:t>Neutral Recall 90.0%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70448" y="4005072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Dominant class well-captured. Matches real-world social media distribution.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PSR as a Business Lead Indicator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Positive Sentiment Ratio precedes Amazon Best Seller Rank improvements — H3 Supported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0584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051560"/>
            <a:ext cx="242316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10642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</a:rPr>
              <a:t>~2 Weeks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0" y="152704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PSR consistently leads BSR improvement. Early sentiment = early signal.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2331720"/>
            <a:ext cx="2423160" cy="111556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3865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</a:rPr>
              <a:t>r = −0.67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2807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Strong negative correlation between PSR and BSR rank number (lower rank = better).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37960" y="3611880"/>
            <a:ext cx="2423160" cy="11155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36667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F6E"/>
                </a:solidFill>
              </a:rPr>
              <a:t>Business Use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408736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F6E"/>
                </a:solidFill>
              </a:rPr>
              <a:t>Trigger procurement &amp; marketing actions BEFORE sales data confirms demand.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Business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Translating findings into prioritised, stakeholder-specific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27432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Mgmt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Smart Home: 19% Negative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Root-cause quality audit. Raise acceptance thresholds.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9272" y="10515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05156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Mobile Accessories: 86% Positive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10712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Feature in 'most loved' campaigns. Upsell opportunity.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27064" y="10515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27064" y="1051560"/>
            <a:ext cx="274320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Supply 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8504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PSR leads BSR by 2 weeks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18504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Integrate PSR as demand forecast variable.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71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71800"/>
            <a:ext cx="27432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35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Svc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Tweet Negative Rate: 6.4%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Real-time complaint monitoring &amp; rapid response protocol.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2971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9272" y="2971800"/>
            <a:ext cx="27432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3035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0712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Camera/Display — top driver (+0.52)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10712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Maintain camera investment. It's the key brand differentiator.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27064" y="2971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27064" y="2971800"/>
            <a:ext cx="2743200" cy="411480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3035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Pricing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18504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F6E"/>
                </a:solidFill>
              </a:rPr>
              <a:t>Finding: Value for Money: only 54% positive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18504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Action: Reframe value messaging to counter overpricing perception.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F6E"/>
                </a:solidFill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458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640080" cy="7498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R1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9418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Deploy Real-Time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252728"/>
            <a:ext cx="7543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Ship the LR pipeline (73.5% acc, ROC-AUC 0.829) as a FastAPI microservice feeding a Power BI/Tableau dashboard with daily PSR alerts by category.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09928"/>
            <a:ext cx="8458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09928"/>
            <a:ext cx="640080" cy="7498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R2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1783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30-Day Post-Launch 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2093976"/>
            <a:ext cx="7543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Formalise a 30-day monitoring window in every product launch playbook. PSR &lt; 60% for 2 consecutive weeks triggers a Rapid Response Protocol.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551176"/>
            <a:ext cx="8458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51176"/>
            <a:ext cx="640080" cy="7498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15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R3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2624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Integrate PSR in Demand 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935224"/>
            <a:ext cx="7543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Add weekly PSR as an exogenous variable in supply-chain demand models. A/B test forecast accuracy across the next 3 launches to quantify ROI.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92424"/>
            <a:ext cx="8458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92424"/>
            <a:ext cx="640080" cy="7498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5701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R4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46557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Invest in Battery &amp; Value R&amp;D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776472"/>
            <a:ext cx="7543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Battery life (avg +0.31) and value perception (54% positive) are the weakest aspects. Reallocate R&amp;D budget and redesign value-proposition messaging.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8458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233672"/>
            <a:ext cx="640080" cy="749808"/>
          </a:xfrm>
          <a:prstGeom prst="rect">
            <a:avLst/>
          </a:prstGeom>
          <a:solidFill>
            <a:srgbClr val="1B2F6E"/>
          </a:solidFill>
          <a:ln w="12700">
            <a:solidFill>
              <a:srgbClr val="1B2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9826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</a:rPr>
              <a:t>R5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0432" y="43068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6E"/>
                </a:solidFill>
              </a:rPr>
              <a:t>Multilingual NLP Capability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4617720"/>
            <a:ext cx="7543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India is multilingual. Fine-tune mBERT or XLM-RoBERTa on Hindi-English code-mixed content to capture sentiment currently outside the model's scope.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02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0241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73.5% accuracy &amp; ROC-AUC 0.829 — LR pipeline significantly outperforms the 56.8% baseline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28216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7007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PSR leads BSR improvement by ~2 weeks — sentiment is a proven business lead indicator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04872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Mobile Accessories (86%) vs Headphones (52%) — 34-pp category gap demands differentiated strategy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081528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05409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Customer Service is the only negative-scoring aspect (−0.12) — the most critical improvement area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758184"/>
            <a:ext cx="256032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730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Combining Amazon reviews + tweets gives a more complete customer picture than either alone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228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658368"/>
            <a:ext cx="2194560" cy="822960"/>
          </a:xfrm>
          <a:prstGeom prst="rect">
            <a:avLst/>
          </a:prstGeom>
          <a:solidFill>
            <a:srgbClr val="162560"/>
          </a:solidFill>
          <a:ln w="6350">
            <a:solidFill>
              <a:srgbClr val="2A4A9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Fine-tune RoBERTa / BERT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(+8–12 pp accuracy)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1709928"/>
            <a:ext cx="2194560" cy="822960"/>
          </a:xfrm>
          <a:prstGeom prst="rect">
            <a:avLst/>
          </a:prstGeom>
          <a:solidFill>
            <a:srgbClr val="162560"/>
          </a:solidFill>
          <a:ln w="6350">
            <a:solidFill>
              <a:srgbClr val="2A4A9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Real-time Kafka Streaming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(&lt; 5 min latency)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761488"/>
            <a:ext cx="2194560" cy="822960"/>
          </a:xfrm>
          <a:prstGeom prst="rect">
            <a:avLst/>
          </a:prstGeom>
          <a:solidFill>
            <a:srgbClr val="162560"/>
          </a:solidFill>
          <a:ln w="6350">
            <a:solidFill>
              <a:srgbClr val="2A4A9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Multilingual NLP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(Hindi-English code-mix)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3813048"/>
            <a:ext cx="2194560" cy="822960"/>
          </a:xfrm>
          <a:prstGeom prst="rect">
            <a:avLst/>
          </a:prstGeom>
          <a:solidFill>
            <a:srgbClr val="162560"/>
          </a:solidFill>
          <a:ln w="6350">
            <a:solidFill>
              <a:srgbClr val="2A4A9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SHAP Explainability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7731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FA5"/>
                </a:solidFill>
              </a:rPr>
              <a:t>Abhijeet Srivastava  ·  MBA Business Analytics &amp; Data Science  ·  GBU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1428</Words>
  <Application>Microsoft Office PowerPoint</Application>
  <PresentationFormat>On-screen Show (16:9)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Customer Sentiment Analysis</dc:title>
  <dc:subject>PptxGenJS Presentation</dc:subject>
  <dc:creator>PptxGenJS</dc:creator>
  <cp:lastModifiedBy>seemslike abhi</cp:lastModifiedBy>
  <cp:revision>2</cp:revision>
  <dcterms:created xsi:type="dcterms:W3CDTF">2026-05-28T18:23:49Z</dcterms:created>
  <dcterms:modified xsi:type="dcterms:W3CDTF">2026-05-28T21:48:53Z</dcterms:modified>
</cp:coreProperties>
</file>